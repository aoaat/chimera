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d7d09b5634b44" /><Relationship Type="http://schemas.openxmlformats.org/officeDocument/2006/relationships/extended-properties" Target="/docProps/app.xml" Id="Rdb18e42f2e814c45" /><Relationship Type="http://schemas.openxmlformats.org/officeDocument/2006/relationships/officeDocument" Target="/ppt/presentation.xml" Id="R95ca09211708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cf92783cd474c"/>
  </p:sldMasterIdLst>
  <p:notesMasterIdLst>
    <p:notesMasterId xmlns:r="http://schemas.openxmlformats.org/officeDocument/2006/relationships" r:id="R88cb7fddefab4fa8"/>
  </p:notesMasterIdLst>
  <p:sldIdLst>
    <p:sldId xmlns:r="http://schemas.openxmlformats.org/officeDocument/2006/relationships" id="256" r:id="R107ff743825543b0"/>
    <p:sldId xmlns:r="http://schemas.openxmlformats.org/officeDocument/2006/relationships" id="257" r:id="R3e7c06da1b734e9b"/>
    <p:sldId xmlns:r="http://schemas.openxmlformats.org/officeDocument/2006/relationships" id="258" r:id="R6cd4fdf34dd54676"/>
    <p:sldId xmlns:r="http://schemas.openxmlformats.org/officeDocument/2006/relationships" id="259" r:id="Rb383cb3897d44d76"/>
    <p:sldId xmlns:r="http://schemas.openxmlformats.org/officeDocument/2006/relationships" id="260" r:id="R4a40371c89f44758"/>
    <p:sldId xmlns:r="http://schemas.openxmlformats.org/officeDocument/2006/relationships" id="261" r:id="R86653c9e1fe1487c"/>
    <p:sldId xmlns:r="http://schemas.openxmlformats.org/officeDocument/2006/relationships" id="262" r:id="Rfcebd0ec7ac549d0"/>
    <p:sldId xmlns:r="http://schemas.openxmlformats.org/officeDocument/2006/relationships" id="263" r:id="Rb93b07ef4a37468f"/>
    <p:sldId xmlns:r="http://schemas.openxmlformats.org/officeDocument/2006/relationships" id="264" r:id="Rcc629d5713b84833"/>
    <p:sldId xmlns:r="http://schemas.openxmlformats.org/officeDocument/2006/relationships" id="265" r:id="Rb7f06eef1ab74ee4"/>
    <p:sldId xmlns:r="http://schemas.openxmlformats.org/officeDocument/2006/relationships" id="266" r:id="Rb5dd28c9151d46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8b2fee52904020" /><Relationship Type="http://schemas.openxmlformats.org/officeDocument/2006/relationships/slideMaster" Target="/ppt/slideMasters/slideMaster1.xml" Id="R604cf92783cd474c" /><Relationship Type="http://schemas.openxmlformats.org/officeDocument/2006/relationships/notesMaster" Target="/ppt/notesMasters/notesMaster1.xml" Id="R88cb7fddefab4fa8" /><Relationship Type="http://schemas.openxmlformats.org/officeDocument/2006/relationships/presProps" Target="/ppt/presProps.xml" Id="Rb27331103abe4310" /><Relationship Type="http://schemas.openxmlformats.org/officeDocument/2006/relationships/tableStyles" Target="/ppt/tableStyles.xml" Id="R7b48af9885de4274" /><Relationship Type="http://schemas.openxmlformats.org/officeDocument/2006/relationships/slide" Target="/ppt/slides/slide1.xml" Id="R107ff743825543b0" /><Relationship Type="http://schemas.openxmlformats.org/officeDocument/2006/relationships/slide" Target="/ppt/slides/slide2.xml" Id="R3e7c06da1b734e9b" /><Relationship Type="http://schemas.openxmlformats.org/officeDocument/2006/relationships/slide" Target="/ppt/slides/slide3.xml" Id="R6cd4fdf34dd54676" /><Relationship Type="http://schemas.openxmlformats.org/officeDocument/2006/relationships/slide" Target="/ppt/slides/slide4.xml" Id="Rb383cb3897d44d76" /><Relationship Type="http://schemas.openxmlformats.org/officeDocument/2006/relationships/slide" Target="/ppt/slides/slide5.xml" Id="R4a40371c89f44758" /><Relationship Type="http://schemas.openxmlformats.org/officeDocument/2006/relationships/slide" Target="/ppt/slides/slide6.xml" Id="R86653c9e1fe1487c" /><Relationship Type="http://schemas.openxmlformats.org/officeDocument/2006/relationships/slide" Target="/ppt/slides/slide7.xml" Id="Rfcebd0ec7ac549d0" /><Relationship Type="http://schemas.openxmlformats.org/officeDocument/2006/relationships/slide" Target="/ppt/slides/slide8.xml" Id="Rb93b07ef4a37468f" /><Relationship Type="http://schemas.openxmlformats.org/officeDocument/2006/relationships/slide" Target="/ppt/slides/slide9.xml" Id="Rcc629d5713b84833" /><Relationship Type="http://schemas.openxmlformats.org/officeDocument/2006/relationships/slide" Target="/ppt/slides/slide10.xml" Id="Rb7f06eef1ab74ee4" /><Relationship Type="http://schemas.openxmlformats.org/officeDocument/2006/relationships/slide" Target="/ppt/slides/slide11.xml" Id="Rb5dd28c9151d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07c818239f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116545cff14f40" /><Relationship Type="http://schemas.openxmlformats.org/officeDocument/2006/relationships/notesMaster" Target="/ppt/notesMasters/notesMaster1.xml" Id="Re79e0dcc6f204a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dac5352e7240fd" /><Relationship Type="http://schemas.openxmlformats.org/officeDocument/2006/relationships/notesMaster" Target="/ppt/notesMasters/notesMaster1.xml" Id="Rb7699345031b45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35362468714cd4" /><Relationship Type="http://schemas.openxmlformats.org/officeDocument/2006/relationships/notesMaster" Target="/ppt/notesMasters/notesMaster1.xml" Id="R4b1b0b9e01db45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5f228055d842d3" /><Relationship Type="http://schemas.openxmlformats.org/officeDocument/2006/relationships/notesMaster" Target="/ppt/notesMasters/notesMaster1.xml" Id="R9054d5de8532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8055f40b904144" /><Relationship Type="http://schemas.openxmlformats.org/officeDocument/2006/relationships/notesMaster" Target="/ppt/notesMasters/notesMaster1.xml" Id="R32b6ac9c4f504a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e727a85d64926" /><Relationship Type="http://schemas.openxmlformats.org/officeDocument/2006/relationships/notesMaster" Target="/ppt/notesMasters/notesMaster1.xml" Id="Re1bad2e6916b4e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64f17dc21f4057" /><Relationship Type="http://schemas.openxmlformats.org/officeDocument/2006/relationships/notesMaster" Target="/ppt/notesMasters/notesMaster1.xml" Id="Rc8a6df6f3c8648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1908eef73e478f" /><Relationship Type="http://schemas.openxmlformats.org/officeDocument/2006/relationships/notesMaster" Target="/ppt/notesMasters/notesMaster1.xml" Id="Ra3374e6371dc49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1c3496fd194117" /><Relationship Type="http://schemas.openxmlformats.org/officeDocument/2006/relationships/notesMaster" Target="/ppt/notesMasters/notesMaster1.xml" Id="R03120a12fb974b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6471082dff4f71" /><Relationship Type="http://schemas.openxmlformats.org/officeDocument/2006/relationships/notesMaster" Target="/ppt/notesMasters/notesMaster1.xml" Id="Ra9a77c232e4a47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8b8e6742a74075" /><Relationship Type="http://schemas.openxmlformats.org/officeDocument/2006/relationships/notesMaster" Target="/ppt/notesMasters/notesMaster1.xml" Id="Re602671405c2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建议时长：10 秒</a:t>
            </a:r>
          </a:p>
          <a:p xmlns:a="http://schemas.openxmlformats.org/drawingml/2006/main">
            <a:r>
              <a:t>主讲：主讲人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开场说明：本次汇报聚焦任务二的立项依据、技术方案、执行计划和验收安排。四位成员依次完成四个部分。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内容依据：《海洋牧场任务对应PPT》任务二说明；《任务二_科学投喂与鱼群摄食监测_项目规划_v3》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建议时长：20 秒</a:t>
            </a:r>
          </a:p>
          <a:p xmlns:a="http://schemas.openxmlformats.org/drawingml/2006/main">
            <a:r>
              <a:t>主讲：主讲人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快速说明四个部分以及交接顺序。强调每人围绕一个完整问题讲解，避免内容重复。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内容依据：根据用户要求重构为四个鲜明部分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建议时长：55 秒</a:t>
            </a:r>
          </a:p>
          <a:p xmlns:a="http://schemas.openxmlformats.org/drawingml/2006/main">
            <a:r>
              <a:t>主讲：主讲人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先说明投喂偏多与偏少的双向损失，再指出水面和水下单一现象都不足以支撑判断。因此项目需要建立客观、实时、可追溯的反馈。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内容依据：《海洋牧场任务对应PPT》第31页；原始水下画面来自第18页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建议时长：55 秒</a:t>
            </a:r>
          </a:p>
          <a:p xmlns:a="http://schemas.openxmlformats.org/drawingml/2006/main">
            <a:r>
              <a:t>主讲：主讲人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完整目标覆盖投喂前、中、后和餐次复盘。本期按课程周期收敛为最小闭环，先确保数据可采、画面可用、标签可解释、结果可复现。生产级自动投喂不在本期承诺范围。讲完后交给主讲人2。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内容依据：《海洋牧场任务对应PPT》第31页；《项目规划_v3》第4、8页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10 秒</a:t>
            </a:r>
          </a:p>
          <a:p xmlns:a="http://schemas.openxmlformats.org/drawingml/2006/main">
            <a:r>
              <a:t>主讲：主讲人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技术路线分为感知、处理、判断和输出四层。视频是本期主通道，声呐、水面和水质用于印证。比较多模态增益时固定数据划分与训练预算，避免因为调参不一致产生虚假提升。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内容依据：《海洋牧场任务对应PPT》第31至32页；《项目规划_v3》第4至7页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05 秒</a:t>
            </a:r>
          </a:p>
          <a:p xmlns:a="http://schemas.openxmlformats.org/drawingml/2006/main">
            <a:r>
              <a:t>主讲：主讲人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先展示原始画面与增强解析效果，说明传统方法用于建立可复现基线，轻量模型用于比较。随后说明餐次编号、四档标签、分块划分和双人复核四条数据规则。讲完后交给主讲人3。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内容依据：《海洋牧场任务对应PPT》第18、32页；《项目规划_v3》第5至7、12页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10 秒</a:t>
            </a:r>
          </a:p>
          <a:p xmlns:a="http://schemas.openxmlformats.org/drawingml/2006/main">
            <a:r>
              <a:t>主讲：主讲人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将原六阶段压缩为四周视图。第一周定规则，第二周练设备并固定规范，第三周采集与处理，第四周评估交付。三个控制点用于避免在定义、拍摄和代码未稳定时提前推进。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内容依据：《项目规划_v3》第8至15页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05 秒</a:t>
            </a:r>
          </a:p>
          <a:p xmlns:a="http://schemas.openxmlformats.org/drawingml/2006/main">
            <a:r>
              <a:t>主讲：主讲人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四人分工对应汇报结构，也对应交付链路。关键交接依次是采集字段、标准素材、结果日志和复跑反馈。共同规则确保版本、随机种子与结果都能追溯。讲完后交给主讲人4。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内容依据：《项目规划_v3》第9至16页；结合四人汇报要求进行职责重构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15 秒</a:t>
            </a:r>
          </a:p>
          <a:p xmlns:a="http://schemas.openxmlformats.org/drawingml/2006/main">
            <a:r>
              <a:t>主讲：主讲人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验收不预设无法保证的漂亮数字，而是要求完整报告识别质量、融合与残饵、决策与追溯三类证据。尤其要防止相邻帧跨集、调参预算不一致和缺少样本量。单项未达标可以接受，但必须如实解释。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内容依据：《海洋牧场任务对应PPT》第32页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10 秒</a:t>
            </a:r>
          </a:p>
          <a:p xmlns:a="http://schemas.openxmlformats.org/drawingml/2006/main">
            <a:r>
              <a:t>主讲：主讲人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交付物按定义与数据、代码与方法、结果与证据、报告与边界四包组织。随后说明四类风险。公开数据只能补充现场数据，缺失模态必须明确标记，不能用推测替代实测。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内容依据：《海洋牧场任务对应PPT》第33页；《项目规划_v3》第16页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建议时长：35 秒</a:t>
            </a:r>
          </a:p>
          <a:p xmlns:a="http://schemas.openxmlformats.org/drawingml/2006/main">
            <a:r>
              <a:t>主讲：主讲人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结论是本项目目标明确、范围可控、验收可执行。申请同意按十月计划启动，并协调水下机器人使用窗口、现场数据以及一名独立复核人员。随后进入问答。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内容依据：综合两份源PPT形成的立项申请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793ec0dcd45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df26a2e288496f" /><Relationship Type="http://schemas.openxmlformats.org/officeDocument/2006/relationships/slideLayout" Target="/ppt/slideLayouts/slideLayout1.xml" Id="Rd340700f4d924a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0700f4d924a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be5a0449c40f3" /><Relationship Type="http://schemas.openxmlformats.org/officeDocument/2006/relationships/image" Target="/ppt/media/image.png" Id="R07f7541c115d465d" /><Relationship Type="http://schemas.openxmlformats.org/officeDocument/2006/relationships/notesSlide" Target="/ppt/notesSlides/notesSlide1.xml" Id="Rf12714ff95ed41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b67a2266d42df" /><Relationship Type="http://schemas.openxmlformats.org/officeDocument/2006/relationships/notesSlide" Target="/ppt/notesSlides/notesSlide2.xml" Id="R23d5ae3bb3d244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7094d7a6041ea" /><Relationship Type="http://schemas.openxmlformats.org/officeDocument/2006/relationships/image" Target="/ppt/media/image.jpeg" Id="R7809e410bb2647dc" /><Relationship Type="http://schemas.openxmlformats.org/officeDocument/2006/relationships/notesSlide" Target="/ppt/notesSlides/notesSlide3.xml" Id="Rad864dd5626e4b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2e77442f044e0" /><Relationship Type="http://schemas.openxmlformats.org/officeDocument/2006/relationships/notesSlide" Target="/ppt/notesSlides/notesSlide4.xml" Id="R5f7a373475114d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220fa48a34962" /><Relationship Type="http://schemas.openxmlformats.org/officeDocument/2006/relationships/notesSlide" Target="/ppt/notesSlides/notesSlide5.xml" Id="R816cabb05059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30776846146e3" /><Relationship Type="http://schemas.openxmlformats.org/officeDocument/2006/relationships/image" Target="/ppt/media/image2.jpeg" Id="R4aadec48437545c8" /><Relationship Type="http://schemas.openxmlformats.org/officeDocument/2006/relationships/image" Target="/ppt/media/image3.jpeg" Id="R8b4071ad4b7e4023" /><Relationship Type="http://schemas.openxmlformats.org/officeDocument/2006/relationships/notesSlide" Target="/ppt/notesSlides/notesSlide6.xml" Id="Rb1bdaec07a3e44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f3e9e6e794b53" /><Relationship Type="http://schemas.openxmlformats.org/officeDocument/2006/relationships/notesSlide" Target="/ppt/notesSlides/notesSlide7.xml" Id="R83ec83127a4b45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06155b1da4fca" /><Relationship Type="http://schemas.openxmlformats.org/officeDocument/2006/relationships/notesSlide" Target="/ppt/notesSlides/notesSlide8.xml" Id="Rec5a604cc7d04a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f3aedb29047f5" /><Relationship Type="http://schemas.openxmlformats.org/officeDocument/2006/relationships/notesSlide" Target="/ppt/notesSlides/notesSlide9.xml" Id="Rd7ce0b16b1a040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4e6b32074927" /><Relationship Type="http://schemas.openxmlformats.org/officeDocument/2006/relationships/notesSlide" Target="/ppt/notesSlides/notesSlide10.xml" Id="Ra9e4e922ebbc48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0525aefdf4797" /><Relationship Type="http://schemas.openxmlformats.org/officeDocument/2006/relationships/notesSlide" Target="/ppt/notesSlides/notesSlide11.xml" Id="R2ae0da40ab4347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7541c115d465d"/>
          <a:srcRect xmlns:a="http://schemas.openxmlformats.org/drawingml/2006/main" l="264" t="0" r="2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A9D53-BE79-4B85-8671-FED14720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B2B">
                  <a:alpha val="96000"/>
                </a:srgbClr>
              </a:gs>
              <a:gs pos="52000">
                <a:srgbClr val="061B2B">
                  <a:alpha val="78000"/>
                </a:srgbClr>
              </a:gs>
              <a:gs pos="100000">
                <a:srgbClr val="061B2B">
                  <a:alpha val="20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0544D-EA03-4CF9-8BC7-DCE52779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AI 赋能智慧海洋牧场 · 课程任务二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D0DCE-F4E0-4531-B309-EA7C881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科学投喂与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鱼群摄食监测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3E143-24E4-4643-BC45-01289048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28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立项汇报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0F62A-9F78-44A0-B7C0-D54FA71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四人协作 · 总时长控制在 10 分钟内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DB9E1-DDFA-4A99-9027-875F9252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E8ED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C9E8ED"/>
                </a:solidFill>
                <a:latin typeface="HarmonyOS Sans SC"/>
                <a:ea typeface="HarmonyOS Sans SC"/>
                <a:cs typeface="HarmonyOS Sans SC"/>
              </a:rPr>
              <a:t>计划周期：2026 年 10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4D302-2D12-4915-8CC7-2DC2D20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E8ED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C9E8ED"/>
                </a:solidFill>
                <a:latin typeface="HarmonyOS Sans SC"/>
                <a:ea typeface="HarmonyOS Sans SC"/>
                <a:cs typeface="HarmonyOS Sans SC"/>
              </a:rPr>
              <a:t>汇报人：________  ________  ________  ________</a:t>
            </a:r>
          </a:p>
        </p:txBody>
      </p:sp>
    </p:spTree>
    <p:extLst>
      <p:ext uri="{BB962C8B-B14F-4D97-AF65-F5344CB8AC3E}">
        <p14:creationId xmlns:p14="http://schemas.microsoft.com/office/powerpoint/2010/main" val="420154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359F6-285F-4F3A-843F-8CD4BFC8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四段式汇报安排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730A8-A977-4B55-BF0E-0226093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每人负责一个完整问题，交接点与项目分工一致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E5281-E0FA-4CD2-86F9-10B33076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D4114-4520-4FFA-A040-1D59D3E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6170C-F2B4-4CDF-A757-4E33EA6B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立项依据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C943E-07F8-40F3-9A0E-DDD2A8B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为什么做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做到什么程度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C3F41-3AED-4071-BE39-0E94D464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主讲人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6CEB4-484C-459A-816A-6F170AFD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约 2 分 20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70F89-6CEC-4695-9001-E8B3607D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E20CB-661E-4FD5-AAB3-64406A0D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6AFDD-11BC-4E8E-A433-B1E261EE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技术方案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516C0-F897-498E-A060-3B24859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数据如何采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模型如何判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DA444-F214-4EA7-9920-8627D684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主讲人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B560F-3531-42C3-81FF-9434333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48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约 2 分 15 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7168C-B3CB-44A2-87CB-8739D4E7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C369D-2F94-40A9-8A84-696EAEEE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908D1-B292-4CB1-BA40-137EB5C5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执行计划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23775-6413-4E53-93AC-AEBE166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10 月怎么推进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四人如何协作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776CA-8B32-4C85-B5AA-EC72F408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主讲人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EADB6-D00E-4CFA-8227-54A10398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约 2 分 15 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25783-40CA-4304-B188-AA42BDF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CF405-2D88-4BEE-B914-36E79F3E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8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0B970-98BC-4C1B-BEDD-9EBF62C9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验收与保障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887DF-1891-49F6-87C4-7322E6F4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289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如何证明有效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需要哪些支持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46442-621F-4EE0-9E70-BA6754C0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主讲人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B3D53-40BB-4AA7-ACCD-ECB13D36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48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约 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2AAEE3-C392-48BB-A2C5-74FF79D7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49E82-71FF-48CD-BA20-7C5C69DE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3ECC0-DD10-4604-94C8-EAABE21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394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47285-B01C-4351-AA5A-25298CA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FCF87-5B39-4805-BD09-2170155A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01  立项依据 · 主讲人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7071F-AFD5-4E25-97FF-061C0A0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投喂决策缺少可量化反馈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9e410bb2647dc"/>
          <a:srcRect xmlns:a="http://schemas.openxmlformats.org/drawingml/2006/main" l="16896" t="0" r="168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62100"/>
            <a:ext cx="4686300" cy="3981450"/>
          </a:xfrm>
          <a:prstGeom xmlns:a="http://schemas.openxmlformats.org/drawingml/2006/main" prst="roundRect">
            <a:avLst>
              <a:gd name="adj" fmla="val 38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C57FA-423A-4A47-A96E-073FA6B1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43450"/>
            <a:ext cx="46863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61B2B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EDCF3-23B7-4796-B220-92999DF8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149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水下浑浊、色偏与遮挡，使“是否吃饱”难以直接判断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8928B-94DC-455E-9309-8DD5CD6B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990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F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投多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16F0A-E02C-4A33-9668-BE3A40CC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240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饲料浪费，残饵沉降并增加水体负担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BD71D-2574-4DFB-9E5A-5E2ADC4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7650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60B7D-B146-4FD1-B376-6A73B79E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990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F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投少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D8AA8-7379-45AD-9465-3C865971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479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生长受限，养殖周期可能被拉长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E6BC9-477F-47D5-A515-EB3FB3B5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004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0FBB1-A579-467D-B0E9-8A6DFF4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990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F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误判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A2879-6B6D-4C86-B684-C32C42AC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719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水花、聚集、气泡和反光都可能形成假信号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43349-CD43-4466-814A-43B5B20E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立项目标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7BA11-E8D8-4DBF-8112-FFDE85E4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把“凭经验投料”转为“看鱼的状态投料”，并保留每餐可复盘证据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5C4A8-DA09-402C-800A-9BA6CB6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0E8F6-DA57-4F03-8BD6-580642B4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BCD94-B0F4-4709-80A1-AD2BA9E2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5293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7142E-AD59-4BF0-8852-4977A745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54201-4C81-46BE-8F40-FE55425D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01  立项依据 · 主讲人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067DE-FE34-4A1E-BA1D-A0DB4D20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项目边界与最小可行闭环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17113-4B73-49DF-9B6F-1A84526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投喂前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E0A8F-95A2-4D0E-A89D-7E18EBAE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鱼群分布与规格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水质和海况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29AD9-D890-4B1C-9C1A-770702F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9CCDC-5A25-4968-84E3-119F99D3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716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投喂中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B9437-11AC-44FD-A979-F3033B4E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游动与聚集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声学与水面印证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38A2E-BD59-47DE-BD0D-E0110B1F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622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97848-9DE8-4F5A-9ACD-5FA75CA9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投喂后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73672-77EA-47CF-8C63-2E6B4DB2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漂浮饵料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底部残饵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25D31-3C35-411B-86F5-FDB1D431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DE0BB-F567-4C6D-A860-3D100CDA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716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8C7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餐次复盘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1F190-2877-46CE-A0CD-85666B7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建议、执行、结果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统一关联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48EF8-A765-4ED6-A387-AB346EFF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027FB-E433-470E-80E1-3B9CC8E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本期 10 月重点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AB331-AD78-4DFD-8D61-4D063B0E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先打通“采集、清晰化、标注、验证”的数据链路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AB1CD-6101-4B3F-A198-F7FB426D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范围内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11A63-CFAC-4E57-90AD-7B7B645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机器人采集规范、图像增强流水线、小规模摄食与残饵验证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27E92-82C7-4558-B2CE-216CF8F1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149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范围外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84AE2-6925-460E-8852-D9F5E6B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959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生产级全海域部署与自动投喂控制，待验证后另行立项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FE940-AC53-4882-BA0F-77A2946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51711-7838-47C7-ACF9-D5522CE0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2A272-58B4-4C6B-8196-4526D44F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38C7D9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916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7660BD-5920-4045-8F1B-404B1782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BE1E5-2E6D-4DE3-A5BE-AC0B3DDA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02  技术方案 · 主讲人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EDB1B-F91D-485E-BDB3-B59A938E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多源数据支撑投喂判断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F2EDC-C784-4AFB-A679-B8293B63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66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感知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B793B-7BE7-465F-9246-694F928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573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水下视频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E9DB-7C1B-469E-9E3D-E2F86901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573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声呐（若配备）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825E8-1E61-4B7A-AB89-A9ABEFDF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573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水面影像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3D932-BE9E-417E-914B-36CF623F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水质与海况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D7403-B743-471D-8B61-17B5F16E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93DB1-7C6D-4C56-B257-CF3E3EC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1066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CB8A4-D795-4C83-9CB1-C30CABA0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289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增强复原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04E4F-C71D-42CC-9C80-BE013BB2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鱼群密度与深度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7F15B-808D-40B5-BB82-99BB11A6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水花与饵料覆盖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1749A-E686-49B8-ADAC-1CAF0883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时间对齐与质量标记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2FC49-8ECB-4FF7-B8A9-CECD925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2EC28-9886-4BEE-BA7D-54032A7B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66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A9FEA-3AEE-4B16-97DE-DB90FC9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004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游动与聚集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D5861-6D92-4FE6-A727-2E151E3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多模态印证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67EBD-D268-445D-BE13-291FEB2A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残饵识别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F1ACB-7F38-4361-AD28-52B8B6CB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条件分层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552E2-C93C-4BF6-93C6-E6C5776F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FAAA3-05AF-4E63-B51E-6A948519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66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08E02-E672-4AA9-8D3C-4646AD2A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720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摄食四档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D0646-1B94-4152-AA5A-EC77D50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720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投喂量区间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5E63F-BDCE-4756-95B2-8BF2A0A6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速度与时长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C67A7-E4E6-4481-A103-A8B34BC3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72000"/>
            <a:ext cx="2114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餐次记录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89E0D-F034-408E-B642-A76A800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设计原则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7FB5E-D402-496C-A806-4E191C81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62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单模态先做基线，多模态只在同一数据划分和训练预算下比较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4F59A-D74A-435C-AEF8-F12E2FFC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46624-1883-4A07-8056-B8E9FE3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0C9F9D-DD42-4BD6-B947-A7F8BD5F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2332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8F23E-F29E-4A3E-99E8-A5DC36C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0D70B-57FF-4BF4-8DDC-D423490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02  技术方案 · 主讲人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141A8-A54F-4CCA-9FEF-3979EAC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画面可用是后续识别的前提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dec48437545c8"/>
          <a:srcRect xmlns:a="http://schemas.openxmlformats.org/drawingml/2006/main" l="11421" t="0" r="11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33550"/>
            <a:ext cx="2952750" cy="2152650"/>
          </a:xfrm>
          <a:prstGeom xmlns:a="http://schemas.openxmlformats.org/drawingml/2006/main" prst="roundRect">
            <a:avLst>
              <a:gd name="adj" fmla="val 7080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071ad4b7e4023"/>
          <a:srcRect xmlns:a="http://schemas.openxmlformats.org/drawingml/2006/main" l="11707" t="0" r="117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1733550"/>
            <a:ext cx="2952750" cy="2152650"/>
          </a:xfrm>
          <a:prstGeom xmlns:a="http://schemas.openxmlformats.org/drawingml/2006/main" prst="roundRect">
            <a:avLst>
              <a:gd name="adj" fmla="val 708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02191-0C06-49B7-B2C4-19372EB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增强前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15396-C40F-4C2C-9B27-C05DF124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140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增强后与解析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0A9C4-70E6-4A23-A504-5C5B51B5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AE2DD-10AB-4A1A-AD0D-47A55D2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处理流水线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425D2-EFBC-470C-B741-37B70196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15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白平衡、CLAHE、去雾与去模糊形成传统基线；轻量模型作为增强方案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6D6DB-44F8-4028-A964-365AC6E8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81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AAC56-C48C-4F04-ABD2-F79C4140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54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数据与标签规则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38481-F948-4D98-943A-B93FCF72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餐次编号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AAE9C-714A-4C1A-94E8-404A251B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时间、点位、网箱与执行记录统一关联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F126B-0F50-4E63-AE28-87AED73B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3700"/>
            <a:ext cx="3867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DBF9E-1B4F-43FB-8888-73B5864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四档标签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D61BE-435D-4B0E-BDEF-1B1CE1C8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S0 至 S3，名称和边界案例在 M1 定稿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1B71E-1D70-4BC7-BBBB-E72E451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3867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3DA55-E452-4F9F-8AB6-21A090BF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训练划分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29D1EC-0068-4084-AC03-9CC7397A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按视频、网箱或日期分块，避免相邻帧泄漏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2D29E-7A2D-4947-BF09-9584DAF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48200"/>
            <a:ext cx="3867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9A29F-6B02-4E08-B174-6497BC51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149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双人复核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D7F58-D845-4B7C-8EE0-5D565D3B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残饵区域先算标注一致性，再评模型误差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F1C30-4D31-4D63-9B0A-766D64A2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A2F6C-45BC-4962-9544-9C32198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C995F-A967-4A58-A842-D3E4697E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2733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B586EF-D72C-4657-A9F8-6A1773C7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DDDA7-D66E-4363-8E7F-831FCC72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03  执行计划 · 主讲人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EF4E4-16E9-4BDA-B7A5-CF688BB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10 月执行路线与里程碑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619DD-E874-4736-8D89-888364E2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00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W1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291FE-9EB6-4143-9CE2-D2A5DBA6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10.1–10.5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6FA95-F5C7-4EDB-A1F8-3FF491E3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定义与调研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CF7CE-8492-47F7-A273-9A1A45E7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任务书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标签规则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方法基线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6CB5B-7788-4F3F-A4CF-070F8FB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A177A-D536-4E48-8DDC-848177F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M1 资料与定义定稿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DE873-8208-46AE-B285-8677315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800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W2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1786E-7187-447A-BA94-1EBFBD14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10.6–10.12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95705-91D6-4AD2-BE00-B84A6585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操控与规范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3F297-536F-4A74-96AC-BBE7E456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ROV 练习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拍摄规范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点位航线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1A6D2-F601-44AA-AACB-59D1A2FE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100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59B49-5832-4D46-821B-80D82869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M2 按规范完成拍摄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806CE-C767-472A-9407-9163771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95450"/>
            <a:ext cx="800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660F2-7FC4-4F9B-8161-3E98714D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52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10.13–10.25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5304B-9EAD-4A57-AFC8-CAE162A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采集与处理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348A0-B512-412A-BD04-E69B0C8F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现场或模拟采集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清晰化流水线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二次解析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21E5F-CC28-4884-8CBF-24FCF92F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C763D-28DB-456B-A7AD-004CC728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M3 数据归档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M4 流水线可跑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77433-C366-45D6-824B-591F3E04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800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W4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12604-56F1-44EE-9A9B-4AF2FA19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10.26–10.31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011DE-C4AF-4C91-8935-CDAF72F2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评估与交付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50746-26B3-44B8-8C51-EB274C6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指标计算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消融归因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报告与自检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14D18-A461-4C7F-8FC9-A38D71C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100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BA913-C194-426C-94E6-565EF62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386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M5 评估完成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M6 交付完成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041A8-5F56-4E82-9844-2DBBFE8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控制点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BE02B6-9B2A-4A2A-A93C-8D67DA6F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388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W2 结束前不进入正式采集；W3 结束前完成可复现运行；W4 只做评估、归因与交付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951444-F2BE-49E9-8F4D-F42E4099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87825-F227-42FF-9CB7-1CD2B61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15F8D-D861-4925-B4A1-EA2EBB55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6780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96CB61-FD29-4378-BADD-A5BFABF4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DAFA3-3334-4F1A-ABCC-BB95FACB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03  执行计划 · 主讲人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88A67-55F5-4280-B019-1D1FAF4B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四人分工与交接关系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B24FA-E35D-4258-B3A1-F300070F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85189-E708-4E93-B635-6476A0D9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764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主讲人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E1BFD-5765-44BE-A251-6E1EC6A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需求与数据定义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F892D-F0F0-409F-90C0-7171B35E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任务书、四档标签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餐次编号与资料库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225CE-0CFF-43A2-A118-312A5714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143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向 2 提供采集字段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143ED-3494-4C22-A2AC-58CB9F98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691CB-2251-4159-A2A5-AF99BF88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47428-4334-4360-8D68-6CE51D6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33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主讲人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EC6FE-A3BA-4CE4-8394-94CCBA16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575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ROV 与数据采集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51D66-736A-4399-A23C-0CE03519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操控日志、拍摄规范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原始影像与环境记录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9AD48-3AB5-49B6-876A-78D4493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143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向 3 交付标准素材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14C33-A71E-46AB-8A69-90AFC8C2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EE797-05B3-47F4-89E9-ABCBA3A0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1F52F-9DF1-4201-B2A2-65DCAC8C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主讲人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3532C-C452-4470-A0E9-2F4DA4DA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图像与识别方法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63E7D-8956-45E3-A6D3-070888B5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增强基线、轻量模型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训练与推理脚本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B1FB7-A470-4306-9C67-E0C74A8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3143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向 4 交付结果和日志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E6200-5C7C-4680-9B7B-53E85F20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38300-18BD-43AE-9862-9F9B28BD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12D8B-2834-4198-831E-68E5FDE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48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主讲人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B88B2-153A-4EA7-9928-37A4FC1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720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评估与成果集成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974CB-B9C5-4B12-BC90-BE783520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29175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指标、消融与归因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报告、限制与自检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41BBB-FBE7-4A5A-ACAB-807ECEB4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3143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  <p:txBody>
          <a:bodyPr xmlns:a="http://schemas.openxmlformats.org/drawingml/2006/main" wrap="square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回收问题并组织复跑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1266E-99A5-4DBA-9428-7724F79B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共同规则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656A9-A195-4500-B9D0-20399827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674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统一仓库、固定随机种子、每日提交，关键结果由非本人复跑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0B0363-59F0-4781-8800-26D2783A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F8AA7-401A-4305-995A-C6AC4171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81B5ED-63E8-45D7-BB41-43ED65DC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9303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9A341-90BF-47F9-9ED1-ABDE9AA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C6A85-D7EC-4267-AA81-1CED2830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04  验收与保障 · 主讲人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C5987-9F6F-4330-9E91-E236E29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验收以可复现证据为准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47CF6-6589-46C8-9411-EE6C4BE4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210C7-BDC2-4FB7-8525-583B1B8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识别质量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681C3-094C-46EF-BD4C-2F0F59F6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257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四档准确率与分类别 F1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相邻档与跨档错误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加权 κ 与 95% 置信区间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20FC9-654C-41E7-9AF6-EC718A3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3257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留出集按视频、网箱或日期分块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7B672-1233-43BD-AC47-0852B04F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A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2769D-3D50-47F3-B994-0C04B1DB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融合与残饵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BC132-C076-4796-9F29-A6333BA7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257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单模态与多模态对比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残饵精确率、召回率、面积误差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气泡、反光、碎屑与遮挡归因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F01C2-9B1B-41EA-BAFC-9D418538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3257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29A995"/>
                </a:solidFill>
                <a:latin typeface="HarmonyOS Sans SC"/>
                <a:ea typeface="HarmonyOS Sans SC"/>
                <a:cs typeface="HarmonyOS Sans SC"/>
              </a:rPr>
              <a:t>固定划分与训练预算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47B41-B916-47AD-A085-5EEAC846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6C80F-0D81-4E72-A12B-97731895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决策与追溯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7AF37-523A-4919-857D-C9C309E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257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建议量偏差、方向与分位区间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溶氧和水温条件分层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记录完整率与餐次关联率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5114A-3288-4BB2-8468-05A39541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257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2B84B"/>
                </a:solidFill>
                <a:latin typeface="HarmonyOS Sans SC"/>
                <a:ea typeface="HarmonyOS Sans SC"/>
                <a:cs typeface="HarmonyOS Sans SC"/>
              </a:rPr>
              <a:t>逐餐记录建议、执行与结果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30EDE-B26B-41F0-96BA-EFD0DB0E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105346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2396B-115B-47B8-A2C9-3C505ED1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判定原则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1092C-B636-467C-8D4B-93A69D4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435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允许单项未达标，但必须报告数值、样本量、原因与下一步修正方案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12C1B-5617-4BE9-B1F9-CFB50144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4DAB8-BCD7-4DA0-870B-3D55773A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EADFB-F484-40C6-A26A-8D63F9FC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2323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0B35EF-EE87-48BA-B602-34AD4DB7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278F9-2C92-4C26-BED5-319F60A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04  验收与保障 · 主讲人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481FC-DA45-47B7-8E16-B0ECE2C3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1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交付清单与风险预案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F8728-3C13-4B90-A927-4F07CBC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四类交付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928FD-4988-4BC9-8E44-CCDA3C61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6DF2D-37F3-409E-A976-D569F71A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定义与数据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3877D-6E47-427F-9026-00FE42AF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任务书、四档定义、数据字典、时间对齐日志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6DB26-D27A-4DF4-BA86-667A42CD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AB95E-A45A-42FD-9425-C9346D3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代码与方法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9C0DD-0DBA-41B3-91CB-474A6F6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环境、随机种子、训练与推理脚本、配置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34F22-4B8F-48B4-B86B-0C39419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31F99-E8AA-4BA0-B92B-6C993911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结果与证据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B3959-EA67-4D44-BF1F-642B6F8C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5285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完整指标表、消融表、残饵错误归因样例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A75B8-08CF-479D-887D-8EBCE0D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460F6-BAD7-49FC-AAD3-EC3F5939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报告与边界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B89F7-E8C5-40D4-AF45-29090BB8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9105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8 至 12 页报告，说明迁移边界与限制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E048A-60F6-46A6-AD1F-F22238A0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00200"/>
            <a:ext cx="381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480CB-76A0-4C9B-82DF-A4ECD616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38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关键风险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2F97C-61C3-48AF-B26D-F6F08CC3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设备或天气限制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994DB-7176-447B-A3F7-F915EFB3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431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准备模拟环境，公开数据只作补充并单独标记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A6D50-EF47-401A-A6C7-E4F32ABF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38450"/>
            <a:ext cx="4114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5086B-F355-4BA0-9861-846FC3F9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画面质量不足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03A48-2AEC-4739-825B-9FC563D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384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先改进距离、补光和防抖，再使用增强算法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C6E69-5DA6-4A1D-8389-A25E6EA5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114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6147B-BF78-4533-B881-DE00B6DC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00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声呐或水质缺失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7E625-E46E-47E8-85A7-CFF7598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338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明确缺测范围，不对无数据条件做结论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CBD5B5-1E08-4E39-A527-D54D7DC7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29150"/>
            <a:ext cx="4114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23C73-424C-4AED-92A9-B56B4D6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958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102A3B"/>
                </a:solidFill>
                <a:latin typeface="HarmonyOS Sans SC"/>
                <a:ea typeface="HarmonyOS Sans SC"/>
                <a:cs typeface="HarmonyOS Sans SC"/>
              </a:rPr>
              <a:t>进度与版本风险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7AFF7-3067-4E52-8A08-84E4D83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291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每日提交、阶段快照、结果由非本人复跑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B89D8-DDF6-40D7-835A-8BA82B4D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F186C-34D0-4219-9BFB-395C0B42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0">
                <a:solidFill>
                  <a:srgbClr val="567080"/>
                </a:solidFill>
                <a:latin typeface="HarmonyOS Sans SC"/>
                <a:ea typeface="HarmonyOS Sans SC"/>
                <a:cs typeface="HarmonyOS Sans SC"/>
              </a:rPr>
              <a:t>任务二 · 科学投喂与鱼群摄食监测 · 立项汇报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6C7F19-8582-49D8-928B-C4C1882C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8164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BBA0A-478C-457E-BCD9-0E11445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6E3B7-B53C-4BEE-8E04-4E9713D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立项结论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26E47-BF10-4C24-AAA1-BF5BE985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42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7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用一个月验证科学投喂的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7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最小可行数据闭环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97BB5-6101-4577-979E-965EE90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目标明确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AEA11-44B2-44E8-8B7F-4AA62D2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建立可复盘的摄食判断与投喂建议证据链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1CEC4-D6B4-4B2C-8719-6DC751C7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范围可控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742E7-7401-4D48-B08F-36498507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聚焦采集、清晰化、标注和小规模验证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3B967-B76B-47FE-901D-418CF8BD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验收可执行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0E50D-27C3-4779-94FE-E85BD743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09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指标、数据划分、复跑与限制均有记录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A07EA-18D2-4B71-9598-C249B36E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051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93677-F7D3-4CCB-B9CB-A6AC13D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F06E5B"/>
                </a:solidFill>
                <a:latin typeface="HarmonyOS Sans SC"/>
                <a:ea typeface="HarmonyOS Sans SC"/>
                <a:cs typeface="HarmonyOS Sans SC"/>
              </a:rPr>
              <a:t>申请事项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2E9B0-DF93-409F-9B13-188726E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同意按 10 月计划启动，并协调 ROV 使用窗口、现场数据和第二复核人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DED89-74CD-47B0-82FB-64CF025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E8ED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C9E8ED"/>
                </a:solidFill>
                <a:latin typeface="HarmonyOS Sans SC"/>
                <a:ea typeface="HarmonyOS Sans SC"/>
                <a:cs typeface="HarmonyOS Sans SC"/>
              </a:rPr>
              <a:t>谢谢聆听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C4692-7846-4572-AAB0-17B8AAD6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019800"/>
            <a:ext cx="1219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06E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061B2B"/>
                </a:solidFill>
                <a:latin typeface="HarmonyOS Sans SC"/>
                <a:ea typeface="HarmonyOS Sans SC"/>
                <a:cs typeface="HarmonyOS Sans SC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994978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2026-09-26T11:54:59.9650000Z</dcterms:created>
  <dcterms:modified xsi:type="dcterms:W3CDTF">2026-09-26T11:54:59.9650000Z</dcterms:modified>
</coreProperties>
</file>